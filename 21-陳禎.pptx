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73" r:id="rId4"/>
    <p:sldId id="257" r:id="rId5"/>
    <p:sldId id="297" r:id="rId6"/>
    <p:sldId id="298" r:id="rId7"/>
    <p:sldId id="300" r:id="rId8"/>
    <p:sldId id="355" r:id="rId9"/>
    <p:sldId id="368" r:id="rId10"/>
    <p:sldId id="357" r:id="rId11"/>
    <p:sldId id="359" r:id="rId12"/>
    <p:sldId id="360" r:id="rId13"/>
    <p:sldId id="358" r:id="rId14"/>
    <p:sldId id="361" r:id="rId15"/>
    <p:sldId id="367" r:id="rId16"/>
    <p:sldId id="362" r:id="rId17"/>
    <p:sldId id="363" r:id="rId18"/>
    <p:sldId id="364" r:id="rId19"/>
    <p:sldId id="369" r:id="rId20"/>
    <p:sldId id="366" r:id="rId21"/>
    <p:sldId id="26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8D29"/>
    <a:srgbClr val="DDA553"/>
    <a:srgbClr val="18478F"/>
    <a:srgbClr val="DF5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0824" autoAdjust="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A2B54-6606-476A-9C22-384023786D94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21462-D095-4E59-A8AC-4FBA96965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35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1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投資者額外承受的每一單位風險所獲得的額外收益。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7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55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017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108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9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992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62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823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182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739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i="0" dirty="0">
                <a:solidFill>
                  <a:srgbClr val="424242"/>
                </a:solidFill>
                <a:effectLst/>
                <a:latin typeface="Noto Sans" panose="020B0502040504020204" pitchFamily="34" charset="0"/>
              </a:rPr>
              <a:t>資料量級較小，把隨機森林換成決策樹。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127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75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340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21462-D095-4E59-A8AC-4FBA96965AB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9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31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4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89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43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18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24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75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57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5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3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55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395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2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49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26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74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9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24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99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540C-0238-45C4-ABD0-A50CF6A0F0AF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DEED-1B45-4D36-92C3-BD3BE5680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23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7F2D0-5C61-4ECD-8EF0-7DC153D8299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027CB-4B16-4B21-A276-8705E54D531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25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_矩形 37"/>
          <p:cNvSpPr/>
          <p:nvPr>
            <p:custDataLst>
              <p:tags r:id="rId1"/>
            </p:custDataLst>
          </p:nvPr>
        </p:nvSpPr>
        <p:spPr>
          <a:xfrm rot="2700000">
            <a:off x="1881971" y="2790130"/>
            <a:ext cx="1489274" cy="1489277"/>
          </a:xfrm>
          <a:prstGeom prst="rect">
            <a:avLst/>
          </a:prstGeom>
          <a:solidFill>
            <a:srgbClr val="DDA5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9" name="PA_矩形 38"/>
          <p:cNvSpPr/>
          <p:nvPr>
            <p:custDataLst>
              <p:tags r:id="rId2"/>
            </p:custDataLst>
          </p:nvPr>
        </p:nvSpPr>
        <p:spPr>
          <a:xfrm rot="2700000">
            <a:off x="932899" y="2963219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PA_矩形 41"/>
          <p:cNvSpPr/>
          <p:nvPr>
            <p:custDataLst>
              <p:tags r:id="rId3"/>
            </p:custDataLst>
          </p:nvPr>
        </p:nvSpPr>
        <p:spPr>
          <a:xfrm rot="13500000">
            <a:off x="8830661" y="2790130"/>
            <a:ext cx="1489274" cy="1489277"/>
          </a:xfrm>
          <a:prstGeom prst="rect">
            <a:avLst/>
          </a:prstGeom>
          <a:solidFill>
            <a:srgbClr val="DDA5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PA_矩形 42"/>
          <p:cNvSpPr/>
          <p:nvPr>
            <p:custDataLst>
              <p:tags r:id="rId4"/>
            </p:custDataLst>
          </p:nvPr>
        </p:nvSpPr>
        <p:spPr>
          <a:xfrm rot="13500000">
            <a:off x="10125914" y="2963222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PA_圆角矩形 3"/>
          <p:cNvSpPr/>
          <p:nvPr>
            <p:custDataLst>
              <p:tags r:id="rId5"/>
            </p:custDataLst>
          </p:nvPr>
        </p:nvSpPr>
        <p:spPr>
          <a:xfrm rot="2700000">
            <a:off x="3810429" y="1248868"/>
            <a:ext cx="4569550" cy="457180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PA_椭圆 4"/>
          <p:cNvSpPr/>
          <p:nvPr>
            <p:custDataLst>
              <p:tags r:id="rId6"/>
            </p:custDataLst>
          </p:nvPr>
        </p:nvSpPr>
        <p:spPr>
          <a:xfrm>
            <a:off x="3295650" y="784639"/>
            <a:ext cx="5599108" cy="5500258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0" name="PA_矩形 29"/>
          <p:cNvSpPr/>
          <p:nvPr>
            <p:custDataLst>
              <p:tags r:id="rId7"/>
            </p:custDataLst>
          </p:nvPr>
        </p:nvSpPr>
        <p:spPr>
          <a:xfrm>
            <a:off x="4921502" y="3914006"/>
            <a:ext cx="3384518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Open Sans" panose="020B0606030504020204" pitchFamily="34" charset="0"/>
              </a:rPr>
              <a:t>工工所二 陳禎</a:t>
            </a:r>
            <a:endParaRPr lang="en-US" altLang="zh-TW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Open Sans" panose="020B0606030504020204" pitchFamily="34" charset="0"/>
            </a:endParaRPr>
          </a:p>
        </p:txBody>
      </p:sp>
      <p:sp>
        <p:nvSpPr>
          <p:cNvPr id="31" name="PA_矩形 30"/>
          <p:cNvSpPr/>
          <p:nvPr>
            <p:custDataLst>
              <p:tags r:id="rId8"/>
            </p:custDataLst>
          </p:nvPr>
        </p:nvSpPr>
        <p:spPr>
          <a:xfrm>
            <a:off x="3635224" y="2456419"/>
            <a:ext cx="4806235" cy="13234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accent1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使用基因演算法和機器學習建構選股策略</a:t>
            </a:r>
            <a:endParaRPr lang="zh-CN" altLang="en-US" sz="4000" dirty="0">
              <a:solidFill>
                <a:schemeClr val="accent1">
                  <a:lumMod val="7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  <a:cs typeface="Open Sans" panose="020B0606030504020204" pitchFamily="34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987508" y="1534522"/>
            <a:ext cx="193685" cy="205342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954646" y="5412846"/>
            <a:ext cx="193685" cy="205342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4042367" y="5431737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8024216" y="1534522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54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97B325B-CAF0-4537-8539-5A4DF06B9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37" y="85164"/>
            <a:ext cx="3410031" cy="3410031"/>
          </a:xfrm>
          <a:prstGeom prst="rect">
            <a:avLst/>
          </a:prstGeom>
        </p:spPr>
      </p:pic>
      <p:sp>
        <p:nvSpPr>
          <p:cNvPr id="21" name="矩形 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/>
          <p:cNvSpPr/>
          <p:nvPr/>
        </p:nvSpPr>
        <p:spPr>
          <a:xfrm>
            <a:off x="4722068" y="1064074"/>
            <a:ext cx="2299168" cy="107721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br>
              <a:rPr lang="en-US" altLang="zh-CN" sz="24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zh-TW" altLang="en-US" sz="40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大綱</a:t>
            </a:r>
            <a:endParaRPr lang="en-US" altLang="zh-CN" sz="2400" b="1" dirty="0">
              <a:solidFill>
                <a:srgbClr val="18478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3650D9D-E567-4008-8D1D-9E20D786C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052" y="36568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83940" tIns="55545" rIns="1356885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B76130A-A327-4549-B37B-09F984B314E4}"/>
              </a:ext>
            </a:extLst>
          </p:cNvPr>
          <p:cNvGrpSpPr/>
          <p:nvPr/>
        </p:nvGrpSpPr>
        <p:grpSpPr>
          <a:xfrm>
            <a:off x="805053" y="3991850"/>
            <a:ext cx="7849093" cy="964509"/>
            <a:chOff x="539431" y="4706688"/>
            <a:chExt cx="7849093" cy="964509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553DFA54-4E72-4FE1-8DBC-D23366B09E5B}"/>
                </a:ext>
              </a:extLst>
            </p:cNvPr>
            <p:cNvGrpSpPr/>
            <p:nvPr/>
          </p:nvGrpSpPr>
          <p:grpSpPr>
            <a:xfrm>
              <a:off x="539431" y="4706688"/>
              <a:ext cx="2336980" cy="925178"/>
              <a:chOff x="387719" y="4917478"/>
              <a:chExt cx="2336980" cy="925178"/>
            </a:xfrm>
          </p:grpSpPr>
          <p:sp>
            <p:nvSpPr>
              <p:cNvPr id="38" name="圆角矩形 21">
                <a:extLst>
                  <a:ext uri="{FF2B5EF4-FFF2-40B4-BE49-F238E27FC236}">
                    <a16:creationId xmlns:a16="http://schemas.microsoft.com/office/drawing/2014/main" id="{FDA96FF6-B914-454D-984F-EB24AD92673A}"/>
                  </a:ext>
                </a:extLst>
              </p:cNvPr>
              <p:cNvSpPr/>
              <p:nvPr/>
            </p:nvSpPr>
            <p:spPr>
              <a:xfrm>
                <a:off x="836840" y="4917478"/>
                <a:ext cx="1713884" cy="925178"/>
              </a:xfrm>
              <a:prstGeom prst="round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254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  <a:effectLst>
                <a:outerShdw blurRad="63500" sx="103000" sy="103000" algn="ctr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 rot="13500000">
                <a:off x="387719" y="5108783"/>
                <a:ext cx="555003" cy="555004"/>
              </a:xfrm>
              <a:prstGeom prst="rect">
                <a:avLst/>
              </a:prstGeom>
              <a:solidFill>
                <a:srgbClr val="18478F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716091" y="5195401"/>
                <a:ext cx="2008608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zh-TW" altLang="en-US" b="1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研究動機</a:t>
                </a:r>
                <a:endParaRPr lang="en-US" altLang="zh-CN" b="1" dirty="0">
                  <a:solidFill>
                    <a:srgbClr val="18478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396556" y="5155450"/>
                <a:ext cx="537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white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01</a:t>
                </a:r>
                <a:endParaRPr lang="zh-CN" altLang="en-US" sz="2400" b="1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8D4DC710-2EDB-4F78-A56B-544C0FF08ACD}"/>
                </a:ext>
              </a:extLst>
            </p:cNvPr>
            <p:cNvGrpSpPr/>
            <p:nvPr/>
          </p:nvGrpSpPr>
          <p:grpSpPr>
            <a:xfrm>
              <a:off x="2888312" y="4746019"/>
              <a:ext cx="2738310" cy="925178"/>
              <a:chOff x="2955716" y="5112750"/>
              <a:chExt cx="2738310" cy="925178"/>
            </a:xfrm>
          </p:grpSpPr>
          <p:sp>
            <p:nvSpPr>
              <p:cNvPr id="43" name="圆角矩形 21">
                <a:extLst>
                  <a:ext uri="{FF2B5EF4-FFF2-40B4-BE49-F238E27FC236}">
                    <a16:creationId xmlns:a16="http://schemas.microsoft.com/office/drawing/2014/main" id="{05377F0F-B562-4362-85F4-6B07B9D1EA8D}"/>
                  </a:ext>
                </a:extLst>
              </p:cNvPr>
              <p:cNvSpPr/>
              <p:nvPr/>
            </p:nvSpPr>
            <p:spPr>
              <a:xfrm>
                <a:off x="3404837" y="5112750"/>
                <a:ext cx="1940180" cy="925178"/>
              </a:xfrm>
              <a:prstGeom prst="round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254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  <a:effectLst>
                <a:outerShdw blurRad="63500" sx="103000" sy="103000" algn="ctr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9B875086-AB34-4797-919A-AE70241E2EFF}"/>
                  </a:ext>
                </a:extLst>
              </p:cNvPr>
              <p:cNvSpPr/>
              <p:nvPr/>
            </p:nvSpPr>
            <p:spPr>
              <a:xfrm rot="13500000">
                <a:off x="2955716" y="5304055"/>
                <a:ext cx="555003" cy="555004"/>
              </a:xfrm>
              <a:prstGeom prst="rect">
                <a:avLst/>
              </a:prstGeom>
              <a:solidFill>
                <a:srgbClr val="18478F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300709D6-0549-4F76-860A-64417621B9A8}"/>
                  </a:ext>
                </a:extLst>
              </p:cNvPr>
              <p:cNvSpPr/>
              <p:nvPr/>
            </p:nvSpPr>
            <p:spPr>
              <a:xfrm>
                <a:off x="2964553" y="5399285"/>
                <a:ext cx="2729473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altLang="zh-CN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zh-TW" altLang="en-US" b="1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研究方法</a:t>
                </a:r>
                <a:endParaRPr lang="en-US" altLang="zh-CN" b="1" dirty="0">
                  <a:solidFill>
                    <a:srgbClr val="18478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C8C96AC7-8832-421E-A235-006E9B4FA73D}"/>
                  </a:ext>
                </a:extLst>
              </p:cNvPr>
              <p:cNvSpPr/>
              <p:nvPr/>
            </p:nvSpPr>
            <p:spPr>
              <a:xfrm>
                <a:off x="2964553" y="5350722"/>
                <a:ext cx="53732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white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02</a:t>
                </a:r>
                <a:endParaRPr lang="zh-CN" altLang="en-US" sz="2400" b="1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3754DFB6-EB02-4D04-AFD9-83DA287FB421}"/>
                </a:ext>
              </a:extLst>
            </p:cNvPr>
            <p:cNvGrpSpPr/>
            <p:nvPr/>
          </p:nvGrpSpPr>
          <p:grpSpPr>
            <a:xfrm>
              <a:off x="5490441" y="4717049"/>
              <a:ext cx="2898083" cy="925178"/>
              <a:chOff x="4543021" y="5048651"/>
              <a:chExt cx="2898083" cy="925178"/>
            </a:xfrm>
          </p:grpSpPr>
          <p:sp>
            <p:nvSpPr>
              <p:cNvPr id="53" name="圆角矩形 21">
                <a:extLst>
                  <a:ext uri="{FF2B5EF4-FFF2-40B4-BE49-F238E27FC236}">
                    <a16:creationId xmlns:a16="http://schemas.microsoft.com/office/drawing/2014/main" id="{EEB2B503-B30F-41FD-A963-2C91C25D6255}"/>
                  </a:ext>
                </a:extLst>
              </p:cNvPr>
              <p:cNvSpPr/>
              <p:nvPr/>
            </p:nvSpPr>
            <p:spPr>
              <a:xfrm>
                <a:off x="4992142" y="5048651"/>
                <a:ext cx="2227672" cy="925178"/>
              </a:xfrm>
              <a:prstGeom prst="roundRect">
                <a:avLst/>
              </a:prstGeom>
              <a:gradFill>
                <a:gsLst>
                  <a:gs pos="0">
                    <a:srgbClr val="FFFFFF"/>
                  </a:gs>
                  <a:gs pos="100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254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</a:ln>
              <a:effectLst>
                <a:outerShdw blurRad="63500" sx="103000" sy="103000" algn="ctr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EC10F5C-C583-4E77-933C-B4A453AC696A}"/>
                  </a:ext>
                </a:extLst>
              </p:cNvPr>
              <p:cNvSpPr/>
              <p:nvPr/>
            </p:nvSpPr>
            <p:spPr>
              <a:xfrm rot="13500000">
                <a:off x="4543021" y="5239956"/>
                <a:ext cx="555003" cy="555004"/>
              </a:xfrm>
              <a:prstGeom prst="rect">
                <a:avLst/>
              </a:prstGeom>
              <a:solidFill>
                <a:srgbClr val="18478F">
                  <a:alpha val="9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BA236BC5-7349-4933-9D37-6596453E46E3}"/>
                  </a:ext>
                </a:extLst>
              </p:cNvPr>
              <p:cNvSpPr/>
              <p:nvPr/>
            </p:nvSpPr>
            <p:spPr>
              <a:xfrm>
                <a:off x="4711631" y="5335879"/>
                <a:ext cx="2729473" cy="36933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rgbClr val="18478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研究步驟</a:t>
                </a:r>
                <a:endParaRPr lang="zh-TW" altLang="en-US" b="1" dirty="0">
                  <a:solidFill>
                    <a:srgbClr val="18478F"/>
                  </a:solidFill>
                  <a:latin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CFEB72D-AB89-41B0-AC0F-67781830EBEE}"/>
                  </a:ext>
                </a:extLst>
              </p:cNvPr>
              <p:cNvSpPr/>
              <p:nvPr/>
            </p:nvSpPr>
            <p:spPr>
              <a:xfrm>
                <a:off x="4551858" y="5286623"/>
                <a:ext cx="537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solidFill>
                      <a:prstClr val="white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03</a:t>
                </a:r>
                <a:endParaRPr lang="zh-CN" altLang="en-US" sz="2400" b="1" dirty="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366313A2-2B94-4079-A9FD-5B9C50BB06A7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</a:endParaRPr>
          </a:p>
        </p:txBody>
      </p:sp>
      <p:sp>
        <p:nvSpPr>
          <p:cNvPr id="25" name="圆角矩形 21">
            <a:extLst>
              <a:ext uri="{FF2B5EF4-FFF2-40B4-BE49-F238E27FC236}">
                <a16:creationId xmlns:a16="http://schemas.microsoft.com/office/drawing/2014/main" id="{37EB2537-9596-4A08-89AF-C69EE2F6D572}"/>
              </a:ext>
            </a:extLst>
          </p:cNvPr>
          <p:cNvSpPr/>
          <p:nvPr/>
        </p:nvSpPr>
        <p:spPr>
          <a:xfrm>
            <a:off x="9156322" y="4023935"/>
            <a:ext cx="2365870" cy="925178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B0A23F-9A36-43A9-8870-811DE02A4839}"/>
              </a:ext>
            </a:extLst>
          </p:cNvPr>
          <p:cNvSpPr/>
          <p:nvPr/>
        </p:nvSpPr>
        <p:spPr>
          <a:xfrm rot="13500000">
            <a:off x="8707201" y="4215240"/>
            <a:ext cx="555003" cy="555004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C17F8F-3C4E-4DF9-9B91-1300085459AC}"/>
              </a:ext>
            </a:extLst>
          </p:cNvPr>
          <p:cNvSpPr/>
          <p:nvPr/>
        </p:nvSpPr>
        <p:spPr>
          <a:xfrm>
            <a:off x="8716038" y="4261907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en-US" altLang="zh-TW" sz="2400" b="1" dirty="0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endParaRPr lang="zh-CN" altLang="en-US" sz="2400" b="1" dirty="0">
              <a:solidFill>
                <a:prstClr val="white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AD0949-BADA-4580-93D9-E17307B5B496}"/>
              </a:ext>
            </a:extLst>
          </p:cNvPr>
          <p:cNvSpPr/>
          <p:nvPr/>
        </p:nvSpPr>
        <p:spPr>
          <a:xfrm>
            <a:off x="8934657" y="4297549"/>
            <a:ext cx="2729473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研究結果</a:t>
            </a:r>
            <a:endParaRPr lang="zh-TW" altLang="en-US" b="1" dirty="0">
              <a:solidFill>
                <a:srgbClr val="18478F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7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3D73DF0-8011-4D7A-A5A5-4D796820611E}"/>
              </a:ext>
            </a:extLst>
          </p:cNvPr>
          <p:cNvSpPr/>
          <p:nvPr/>
        </p:nvSpPr>
        <p:spPr>
          <a:xfrm>
            <a:off x="9115425" y="5680173"/>
            <a:ext cx="1600200" cy="3782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F05BEF-BDC0-462E-819D-A3AA57911962}"/>
              </a:ext>
            </a:extLst>
          </p:cNvPr>
          <p:cNvSpPr/>
          <p:nvPr/>
        </p:nvSpPr>
        <p:spPr>
          <a:xfrm>
            <a:off x="5686425" y="5680173"/>
            <a:ext cx="1343025" cy="3782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6008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研究動機</a:t>
            </a:r>
            <a:endParaRPr lang="en-US" altLang="zh-CN" sz="3200" dirty="0">
              <a:solidFill>
                <a:srgbClr val="18478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  <a:endParaRPr lang="zh-CN" altLang="en-US" sz="3200" b="1" dirty="0">
              <a:solidFill>
                <a:srgbClr val="18478F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65A98F-467E-443D-91E2-94CC4976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91" y="2264818"/>
            <a:ext cx="540000" cy="54000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13444581-DAEF-4D22-98C7-DF3432BB0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91" y="3030466"/>
            <a:ext cx="540000" cy="54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BB931BC-56B1-4BE0-8EBA-E6C11C86F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91" y="1585882"/>
            <a:ext cx="540000" cy="54000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70981B7E-6581-4AA2-B4A3-CEAD3A1D263A}"/>
              </a:ext>
            </a:extLst>
          </p:cNvPr>
          <p:cNvSpPr txBox="1"/>
          <p:nvPr/>
        </p:nvSpPr>
        <p:spPr>
          <a:xfrm>
            <a:off x="1395411" y="2331527"/>
            <a:ext cx="70961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主動投資打敗大盤很難嗎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sz="26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A7481AE-C25E-4418-ABB1-C644DEBFCF44}"/>
              </a:ext>
            </a:extLst>
          </p:cNvPr>
          <p:cNvSpPr txBox="1"/>
          <p:nvPr/>
        </p:nvSpPr>
        <p:spPr>
          <a:xfrm>
            <a:off x="1395410" y="3101162"/>
            <a:ext cx="95499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有股價和財報的歷史資料，要如何把學校所學用在投資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投機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sz="2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9B3E87B-811B-472D-9C8D-4E6395A618D5}"/>
              </a:ext>
            </a:extLst>
          </p:cNvPr>
          <p:cNvSpPr txBox="1"/>
          <p:nvPr/>
        </p:nvSpPr>
        <p:spPr>
          <a:xfrm>
            <a:off x="1395411" y="1583397"/>
            <a:ext cx="73660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sz="2600" dirty="0">
                <a:solidFill>
                  <a:srgbClr val="03030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股市八二法則，</a:t>
            </a:r>
            <a:r>
              <a:rPr lang="en-US" altLang="zh-TW" sz="2600" dirty="0">
                <a:solidFill>
                  <a:srgbClr val="03030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80%</a:t>
            </a:r>
            <a:r>
              <a:rPr lang="zh-TW" altLang="en-US" sz="2600" dirty="0">
                <a:solidFill>
                  <a:srgbClr val="03030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的人虧錢，</a:t>
            </a:r>
            <a:r>
              <a:rPr lang="en-US" altLang="zh-TW" sz="2600" dirty="0">
                <a:solidFill>
                  <a:srgbClr val="03030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20%</a:t>
            </a:r>
            <a:r>
              <a:rPr lang="zh-TW" altLang="en-US" sz="2600" dirty="0">
                <a:solidFill>
                  <a:srgbClr val="03030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的人賺錢</a:t>
            </a:r>
            <a:endParaRPr lang="zh-TW" altLang="en-US" sz="2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6EE51C-859D-4FAC-AE94-2669176D92D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F9AB17A-0F0B-4DC8-8D52-A2A2116D054D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Times New Roman" panose="02020603050405020304" pitchFamily="18" charset="0"/>
              </a:rPr>
              <a:t>1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9700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39C25D9-6F26-43FE-8707-A0991C4227BF}"/>
              </a:ext>
            </a:extLst>
          </p:cNvPr>
          <p:cNvCxnSpPr>
            <a:cxnSpLocks/>
          </p:cNvCxnSpPr>
          <p:nvPr/>
        </p:nvCxnSpPr>
        <p:spPr>
          <a:xfrm>
            <a:off x="3785581" y="4603976"/>
            <a:ext cx="796686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PA_矩形 41">
            <a:extLst>
              <a:ext uri="{FF2B5EF4-FFF2-40B4-BE49-F238E27FC236}">
                <a16:creationId xmlns:a16="http://schemas.microsoft.com/office/drawing/2014/main" id="{161744B2-AC7D-49C8-9BFC-D135A713E50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3500000">
            <a:off x="4936419" y="3738337"/>
            <a:ext cx="1761384" cy="1731280"/>
          </a:xfrm>
          <a:prstGeom prst="rect">
            <a:avLst/>
          </a:prstGeom>
          <a:solidFill>
            <a:srgbClr val="DDA5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PA_矩形 41">
            <a:extLst>
              <a:ext uri="{FF2B5EF4-FFF2-40B4-BE49-F238E27FC236}">
                <a16:creationId xmlns:a16="http://schemas.microsoft.com/office/drawing/2014/main" id="{3EB43E15-12DF-4D29-8EB3-933BCF53CF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3500000">
            <a:off x="1696888" y="3738339"/>
            <a:ext cx="1761384" cy="1731280"/>
          </a:xfrm>
          <a:prstGeom prst="rect">
            <a:avLst/>
          </a:prstGeom>
          <a:solidFill>
            <a:srgbClr val="DDA5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PA_矩形 41">
            <a:extLst>
              <a:ext uri="{FF2B5EF4-FFF2-40B4-BE49-F238E27FC236}">
                <a16:creationId xmlns:a16="http://schemas.microsoft.com/office/drawing/2014/main" id="{38ABF097-687E-48AA-BD98-D5A39DC3BDC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3500000">
            <a:off x="8042585" y="3747863"/>
            <a:ext cx="1761384" cy="1731280"/>
          </a:xfrm>
          <a:prstGeom prst="rect">
            <a:avLst/>
          </a:prstGeom>
          <a:solidFill>
            <a:srgbClr val="DDA553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研究方法</a:t>
            </a:r>
            <a:endParaRPr lang="en-US" altLang="zh-CN" sz="3200" dirty="0">
              <a:solidFill>
                <a:srgbClr val="18478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zh-CN" altLang="en-US" sz="3200" b="1" dirty="0">
              <a:solidFill>
                <a:srgbClr val="18478F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F4F583A-12D0-45F9-B8A2-0CF65DE3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37" y="1393237"/>
            <a:ext cx="540000" cy="540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D7805D5-3476-4B5D-94DE-722BEEA07E62}"/>
              </a:ext>
            </a:extLst>
          </p:cNvPr>
          <p:cNvSpPr txBox="1"/>
          <p:nvPr/>
        </p:nvSpPr>
        <p:spPr>
          <a:xfrm>
            <a:off x="1483725" y="1393237"/>
            <a:ext cx="10144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Module :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Finlab</a:t>
            </a:r>
            <a:r>
              <a:rPr lang="zh-TW" altLang="en-US" sz="2400" dirty="0">
                <a:effectLst/>
              </a:rPr>
              <a:t> 、</a:t>
            </a:r>
            <a:r>
              <a:rPr lang="en-US" altLang="zh-TW" sz="2400" dirty="0" err="1">
                <a:effectLst/>
              </a:rPr>
              <a:t>Deap</a:t>
            </a:r>
            <a:r>
              <a:rPr lang="zh-TW" altLang="en-US" sz="2400" dirty="0">
                <a:effectLst/>
              </a:rPr>
              <a:t> 、</a:t>
            </a:r>
            <a:r>
              <a:rPr lang="en-US" altLang="zh-TW" sz="2400" dirty="0">
                <a:effectLst/>
              </a:rPr>
              <a:t>scikit-learn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E6025AE-D22B-4883-A7F5-6FBB289FC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91" y="2226070"/>
            <a:ext cx="540000" cy="540000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2D3A587E-6121-4F50-8381-D0D37DF5D952}"/>
              </a:ext>
            </a:extLst>
          </p:cNvPr>
          <p:cNvSpPr txBox="1"/>
          <p:nvPr/>
        </p:nvSpPr>
        <p:spPr>
          <a:xfrm>
            <a:off x="4848225" y="4311589"/>
            <a:ext cx="1885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機器學習</a:t>
            </a:r>
            <a:endParaRPr lang="zh-TW" altLang="en-US" sz="32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700AD73-4462-40C8-B7CA-DDF3BCCC2FE4}"/>
              </a:ext>
            </a:extLst>
          </p:cNvPr>
          <p:cNvSpPr txBox="1"/>
          <p:nvPr/>
        </p:nvSpPr>
        <p:spPr>
          <a:xfrm>
            <a:off x="1684440" y="4112575"/>
            <a:ext cx="17487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基因演算法</a:t>
            </a:r>
            <a:endParaRPr lang="zh-TW" altLang="en-US" sz="3200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5319695-40ED-404D-8282-1AAA42D11648}"/>
              </a:ext>
            </a:extLst>
          </p:cNvPr>
          <p:cNvSpPr txBox="1"/>
          <p:nvPr/>
        </p:nvSpPr>
        <p:spPr>
          <a:xfrm>
            <a:off x="7980303" y="4321115"/>
            <a:ext cx="24120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打敗大盤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!</a:t>
            </a:r>
            <a:endParaRPr lang="zh-TW" altLang="en-US" sz="3200" b="1" dirty="0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FE2237F-869F-4FDE-9B63-1A2250D59CD2}"/>
              </a:ext>
            </a:extLst>
          </p:cNvPr>
          <p:cNvCxnSpPr>
            <a:cxnSpLocks/>
          </p:cNvCxnSpPr>
          <p:nvPr/>
        </p:nvCxnSpPr>
        <p:spPr>
          <a:xfrm flipV="1">
            <a:off x="7026044" y="4603977"/>
            <a:ext cx="662389" cy="952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C32DA3-46FF-4993-9F6D-B9A9DE47F6B1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Times New Roman" panose="02020603050405020304" pitchFamily="18" charset="0"/>
              </a:rPr>
              <a:t>2</a:t>
            </a:r>
            <a:endParaRPr lang="zh-TW" altLang="en-US" sz="2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C09B3F-85E6-4B12-ACD1-8F52C0D5758C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9F2F577-6DE9-464E-8416-E9D514E16BC1}"/>
              </a:ext>
            </a:extLst>
          </p:cNvPr>
          <p:cNvSpPr txBox="1"/>
          <p:nvPr/>
        </p:nvSpPr>
        <p:spPr>
          <a:xfrm>
            <a:off x="1483724" y="2229165"/>
            <a:ext cx="10144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使用基因演算法建構初步策略，再用機器學習優化策略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=&gt;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目標打敗大盤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7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基因演算法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(Genetic Algorithm)</a:t>
            </a:r>
            <a:endParaRPr lang="en-US" altLang="zh-CN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  <a:cs typeface="Open Sans" panose="020B0606030504020204" pitchFamily="34" charset="0"/>
            </a:endParaRP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02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CAAF187-EDA2-47D5-8423-E4B454901E0F}"/>
              </a:ext>
            </a:extLst>
          </p:cNvPr>
          <p:cNvSpPr txBox="1">
            <a:spLocks noChangeArrowheads="1"/>
          </p:cNvSpPr>
          <p:nvPr/>
        </p:nvSpPr>
        <p:spPr>
          <a:xfrm>
            <a:off x="861630" y="2140333"/>
            <a:ext cx="11330370" cy="4428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TW" sz="2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9EB7F3CF-CC52-4AD9-9A99-49AEEB59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54" y="1265340"/>
            <a:ext cx="540000" cy="54000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0658239D-0C2A-4EF7-874B-0BD2F2D15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07" y="2626154"/>
            <a:ext cx="540000" cy="54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4564FD70-FB59-4C0B-B1F1-F3FCB71A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07" y="4596654"/>
            <a:ext cx="540000" cy="54000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9DA4E2CF-C6A6-4B05-A882-A25EAD5AA0F0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11A540-0CF6-497F-8785-E848FF011147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E390AD-4431-4979-8A1A-60F727F1929E}"/>
              </a:ext>
            </a:extLst>
          </p:cNvPr>
          <p:cNvSpPr txBox="1"/>
          <p:nvPr/>
        </p:nvSpPr>
        <p:spPr>
          <a:xfrm>
            <a:off x="1299491" y="1232321"/>
            <a:ext cx="4991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定義與背景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一種仿生元啟發式演算法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600" b="1" i="0" dirty="0">
                <a:solidFill>
                  <a:srgbClr val="20212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metaheuristic)</a:t>
            </a:r>
            <a:r>
              <a:rPr lang="zh-TW" altLang="en-US" sz="1600" b="1" i="0" dirty="0">
                <a:solidFill>
                  <a:srgbClr val="20212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600" b="1" i="0" dirty="0">
              <a:solidFill>
                <a:srgbClr val="202122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模仿生物進化過程中的遺傳和自然選擇。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8EF6DFD-3AB6-46E1-AB3D-937CBDFA0C93}"/>
              </a:ext>
            </a:extLst>
          </p:cNvPr>
          <p:cNvSpPr txBox="1"/>
          <p:nvPr/>
        </p:nvSpPr>
        <p:spPr>
          <a:xfrm>
            <a:off x="1276730" y="2247856"/>
            <a:ext cx="51407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基因演算法組件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族群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(Population):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族群是由多個可能解決方案組成的集合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基因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(Gene):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基因是構成染色體的基本單位，可以看作是染色體上的一個特定的屬性或變數。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染色體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(Chromosome):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染色體在基因演算法中代表一個解決方案，它由一系列基因組成。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0749FA1-37BA-4D8A-A039-EC67492105C0}"/>
              </a:ext>
            </a:extLst>
          </p:cNvPr>
          <p:cNvSpPr txBox="1"/>
          <p:nvPr/>
        </p:nvSpPr>
        <p:spPr>
          <a:xfrm>
            <a:off x="1276730" y="4231747"/>
            <a:ext cx="60368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演算法過程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初始化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隨機生成初始族群。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適應度評估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評估每個個體的適應度。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選擇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根據適應度選擇個體進行交配。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交配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選中的個體交換基因，產生新個體。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變異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隨機改變個體的某些基因。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迭代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重複適應度評估到變異過程，直到滿足條件結束。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3314" name="Picture 2" descr="Introduction to Genetic Algorithms — Including Example Code | by Vijini  Mallawaarachchi | Towards Data Science">
            <a:extLst>
              <a:ext uri="{FF2B5EF4-FFF2-40B4-BE49-F238E27FC236}">
                <a16:creationId xmlns:a16="http://schemas.microsoft.com/office/drawing/2014/main" id="{396B41D7-A9B9-45A0-9EC0-73ABB863D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506" y="1804315"/>
            <a:ext cx="52959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13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研究步驟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D71368DE-80AC-4642-A49B-6311507B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58" y="2201648"/>
            <a:ext cx="540000" cy="540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821DE570-EBA7-4B77-9DEC-87FB1C0DCC2E}"/>
              </a:ext>
            </a:extLst>
          </p:cNvPr>
          <p:cNvSpPr txBox="1"/>
          <p:nvPr/>
        </p:nvSpPr>
        <p:spPr>
          <a:xfrm>
            <a:off x="1545144" y="2166152"/>
            <a:ext cx="512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使用基因演算法產生策略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77C529F-10BB-493D-8945-A0E19A77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58" y="3429000"/>
            <a:ext cx="540000" cy="540000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F2BCBA60-ADA3-4535-BF0B-3EF858091ADE}"/>
              </a:ext>
            </a:extLst>
          </p:cNvPr>
          <p:cNvSpPr txBox="1"/>
          <p:nvPr/>
        </p:nvSpPr>
        <p:spPr>
          <a:xfrm>
            <a:off x="1545144" y="3360446"/>
            <a:ext cx="512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使用機器學習優化策略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5E57D5C2-5C54-4276-BE30-2AB4C935A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5" y="1599630"/>
            <a:ext cx="540000" cy="54000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73CF3078-9C17-473D-80F5-10AD27ED89ED}"/>
              </a:ext>
            </a:extLst>
          </p:cNvPr>
          <p:cNvSpPr txBox="1"/>
          <p:nvPr/>
        </p:nvSpPr>
        <p:spPr>
          <a:xfrm>
            <a:off x="1545144" y="1599630"/>
            <a:ext cx="512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決定基因演算法細節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21C530C2-8C69-422F-9CB5-0B1E6F2D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58" y="2834432"/>
            <a:ext cx="540000" cy="540000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D0B92926-2163-45A2-9228-6AD9BBF73570}"/>
              </a:ext>
            </a:extLst>
          </p:cNvPr>
          <p:cNvSpPr txBox="1"/>
          <p:nvPr/>
        </p:nvSpPr>
        <p:spPr>
          <a:xfrm>
            <a:off x="1545144" y="2793924"/>
            <a:ext cx="512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分析策略</a:t>
            </a:r>
          </a:p>
        </p:txBody>
      </p:sp>
    </p:spTree>
    <p:extLst>
      <p:ext uri="{BB962C8B-B14F-4D97-AF65-F5344CB8AC3E}">
        <p14:creationId xmlns:p14="http://schemas.microsoft.com/office/powerpoint/2010/main" val="354283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決定基因演算法細節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673912-0155-48B7-8879-4EE06730A6FD}"/>
              </a:ext>
            </a:extLst>
          </p:cNvPr>
          <p:cNvSpPr/>
          <p:nvPr/>
        </p:nvSpPr>
        <p:spPr>
          <a:xfrm>
            <a:off x="226716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C91F04-52B6-49D9-83CB-C397F7C900FA}"/>
              </a:ext>
            </a:extLst>
          </p:cNvPr>
          <p:cNvSpPr/>
          <p:nvPr/>
        </p:nvSpPr>
        <p:spPr>
          <a:xfrm>
            <a:off x="629052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407EA5-7358-4580-B8F0-662BE2598DA7}"/>
              </a:ext>
            </a:extLst>
          </p:cNvPr>
          <p:cNvSpPr/>
          <p:nvPr/>
        </p:nvSpPr>
        <p:spPr>
          <a:xfrm>
            <a:off x="1031388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48A364-90B5-4DFF-ADCC-5D794B49AEF0}"/>
              </a:ext>
            </a:extLst>
          </p:cNvPr>
          <p:cNvSpPr/>
          <p:nvPr/>
        </p:nvSpPr>
        <p:spPr>
          <a:xfrm>
            <a:off x="1433724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D537EB-8AA9-4DE1-8076-485E085ECE35}"/>
              </a:ext>
            </a:extLst>
          </p:cNvPr>
          <p:cNvSpPr/>
          <p:nvPr/>
        </p:nvSpPr>
        <p:spPr>
          <a:xfrm>
            <a:off x="1836060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D53DC7-5DAE-402B-BEFF-6F06D1D80B7F}"/>
              </a:ext>
            </a:extLst>
          </p:cNvPr>
          <p:cNvSpPr/>
          <p:nvPr/>
        </p:nvSpPr>
        <p:spPr>
          <a:xfrm>
            <a:off x="2235348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43426B-A8CF-419F-A059-7B8E8FC7951B}"/>
              </a:ext>
            </a:extLst>
          </p:cNvPr>
          <p:cNvSpPr/>
          <p:nvPr/>
        </p:nvSpPr>
        <p:spPr>
          <a:xfrm>
            <a:off x="2637684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6A1A1F0-6526-454F-8351-3668018CB769}"/>
              </a:ext>
            </a:extLst>
          </p:cNvPr>
          <p:cNvSpPr/>
          <p:nvPr/>
        </p:nvSpPr>
        <p:spPr>
          <a:xfrm>
            <a:off x="3040020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2B17E8-5C5C-4E63-ACA2-6AE0263E4E97}"/>
              </a:ext>
            </a:extLst>
          </p:cNvPr>
          <p:cNvSpPr/>
          <p:nvPr/>
        </p:nvSpPr>
        <p:spPr>
          <a:xfrm>
            <a:off x="3442356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8C561A-B49C-42DD-8111-88F25AE04E61}"/>
              </a:ext>
            </a:extLst>
          </p:cNvPr>
          <p:cNvSpPr/>
          <p:nvPr/>
        </p:nvSpPr>
        <p:spPr>
          <a:xfrm>
            <a:off x="3844692" y="1431477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5D25B00-C709-4E5E-8203-2014B1DF156E}"/>
              </a:ext>
            </a:extLst>
          </p:cNvPr>
          <p:cNvSpPr txBox="1"/>
          <p:nvPr/>
        </p:nvSpPr>
        <p:spPr>
          <a:xfrm>
            <a:off x="277041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2C373D8-A7A1-4E61-A42B-AFCA4B7AED40}"/>
              </a:ext>
            </a:extLst>
          </p:cNvPr>
          <p:cNvSpPr txBox="1"/>
          <p:nvPr/>
        </p:nvSpPr>
        <p:spPr>
          <a:xfrm>
            <a:off x="1080189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DD795D9-8044-419C-A843-ACD7E2084E98}"/>
              </a:ext>
            </a:extLst>
          </p:cNvPr>
          <p:cNvSpPr txBox="1"/>
          <p:nvPr/>
        </p:nvSpPr>
        <p:spPr>
          <a:xfrm>
            <a:off x="1484049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28BFD51-22BF-4814-84AF-DC3B75188ACD}"/>
              </a:ext>
            </a:extLst>
          </p:cNvPr>
          <p:cNvSpPr txBox="1"/>
          <p:nvPr/>
        </p:nvSpPr>
        <p:spPr>
          <a:xfrm>
            <a:off x="3097203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344CB80-C7F1-4326-8B56-257368D21946}"/>
              </a:ext>
            </a:extLst>
          </p:cNvPr>
          <p:cNvSpPr txBox="1"/>
          <p:nvPr/>
        </p:nvSpPr>
        <p:spPr>
          <a:xfrm>
            <a:off x="686997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6E96E03-16B1-4656-8D34-0B69542BCD26}"/>
              </a:ext>
            </a:extLst>
          </p:cNvPr>
          <p:cNvSpPr txBox="1"/>
          <p:nvPr/>
        </p:nvSpPr>
        <p:spPr>
          <a:xfrm>
            <a:off x="1886385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AE323BC-019C-4220-94E5-996D64C87253}"/>
              </a:ext>
            </a:extLst>
          </p:cNvPr>
          <p:cNvSpPr txBox="1"/>
          <p:nvPr/>
        </p:nvSpPr>
        <p:spPr>
          <a:xfrm>
            <a:off x="2282658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0FA1CA0-C8A3-48C1-AE7C-287C43FD113C}"/>
              </a:ext>
            </a:extLst>
          </p:cNvPr>
          <p:cNvSpPr txBox="1"/>
          <p:nvPr/>
        </p:nvSpPr>
        <p:spPr>
          <a:xfrm>
            <a:off x="2681946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EF89BBF-411A-467A-B429-CB1DC69F6592}"/>
              </a:ext>
            </a:extLst>
          </p:cNvPr>
          <p:cNvSpPr txBox="1"/>
          <p:nvPr/>
        </p:nvSpPr>
        <p:spPr>
          <a:xfrm>
            <a:off x="3498744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FF2D766-2EFF-400B-ABCB-67708D0F3A8A}"/>
              </a:ext>
            </a:extLst>
          </p:cNvPr>
          <p:cNvSpPr txBox="1"/>
          <p:nvPr/>
        </p:nvSpPr>
        <p:spPr>
          <a:xfrm>
            <a:off x="3895017" y="147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F63AA5-3FBD-4EF5-BE48-1F0109FF3F3D}"/>
              </a:ext>
            </a:extLst>
          </p:cNvPr>
          <p:cNvSpPr/>
          <p:nvPr/>
        </p:nvSpPr>
        <p:spPr>
          <a:xfrm>
            <a:off x="160282" y="1329768"/>
            <a:ext cx="526715" cy="6697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8CD1038-3947-4E7E-85E1-041D01C093A7}"/>
              </a:ext>
            </a:extLst>
          </p:cNvPr>
          <p:cNvSpPr txBox="1"/>
          <p:nvPr/>
        </p:nvSpPr>
        <p:spPr>
          <a:xfrm>
            <a:off x="142548" y="234938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每個基因都是一個選股條件</a:t>
            </a:r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C3B103CB-AA5F-4F17-A129-30354582E640}"/>
              </a:ext>
            </a:extLst>
          </p:cNvPr>
          <p:cNvSpPr/>
          <p:nvPr/>
        </p:nvSpPr>
        <p:spPr>
          <a:xfrm>
            <a:off x="277041" y="2056893"/>
            <a:ext cx="295375" cy="2811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38F96568-DAD7-47B6-AFCC-1F7E305FB3BC}"/>
              </a:ext>
            </a:extLst>
          </p:cNvPr>
          <p:cNvSpPr/>
          <p:nvPr/>
        </p:nvSpPr>
        <p:spPr>
          <a:xfrm>
            <a:off x="4336116" y="1497271"/>
            <a:ext cx="526715" cy="3474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302CB24-2C50-4B95-8486-C83C597E10CF}"/>
              </a:ext>
            </a:extLst>
          </p:cNvPr>
          <p:cNvSpPr txBox="1"/>
          <p:nvPr/>
        </p:nvSpPr>
        <p:spPr>
          <a:xfrm>
            <a:off x="4862831" y="1486341"/>
            <a:ext cx="7168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條染色體代表選股條件的組合，所以這一條染色體就代表一個選股策略，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Ex: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這條然色體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這個選股策略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同時有第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個選股條件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7FE87E5-079B-4C4E-BF48-E21BD2052315}"/>
              </a:ext>
            </a:extLst>
          </p:cNvPr>
          <p:cNvSpPr txBox="1"/>
          <p:nvPr/>
        </p:nvSpPr>
        <p:spPr>
          <a:xfrm>
            <a:off x="784371" y="3296187"/>
            <a:ext cx="108033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設定此問題的基因演算法染色體長度為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，代表需要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個選股條件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個基因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，來讓基因演算法幫我找到最好的選股條件組合。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設定基因演算法適應度的方向為最大化報酬率、最大化夏普值、最小化績效最大回撤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其他參數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族群大小為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交配率為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突變率為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演化代次為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次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91446313-9558-4F17-80EB-F07056AF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4" y="3372938"/>
            <a:ext cx="540000" cy="540000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FF84149C-E75B-4224-9ABC-4768CD9C1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4" y="402818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0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決定基因演算法細節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7FE87E5-079B-4C4E-BF48-E21BD2052315}"/>
              </a:ext>
            </a:extLst>
          </p:cNvPr>
          <p:cNvSpPr txBox="1"/>
          <p:nvPr/>
        </p:nvSpPr>
        <p:spPr>
          <a:xfrm>
            <a:off x="1243446" y="1351508"/>
            <a:ext cx="845106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請 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ChatGPT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給我</a:t>
            </a:r>
            <a:r>
              <a:rPr lang="en-US" altLang="zh-TW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zh-TW" altLang="en-US" sz="2400" b="1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選股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=&gt;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SMA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五日線向上穿越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日線則買入，向下穿越則賣出。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EMA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五日線向上穿越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日線則買入，向下穿越則賣出。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MACD</a:t>
            </a:r>
            <a:r>
              <a:rPr lang="zh-TW" altLang="en-US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線向上穿越</a:t>
            </a:r>
            <a:r>
              <a:rPr lang="zh-TW" altLang="en-US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MACD</a:t>
            </a:r>
            <a:r>
              <a:rPr lang="zh-TW" altLang="en-US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訊號線則買入，向下穿越則賣出。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RSI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指標小於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股價低於布林通道下軌道則買入，股價高於布林通道上軌道則賣出。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KD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指標都小於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則買入，都大於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80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則賣出。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CCL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指標小於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-100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威廉指標小於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-80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-20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MFI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指標小於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80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則買入。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ROC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指標小於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-10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則買入，大於</a:t>
            </a:r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則買入。</a:t>
            </a:r>
          </a:p>
        </p:txBody>
      </p:sp>
    </p:spTree>
    <p:extLst>
      <p:ext uri="{BB962C8B-B14F-4D97-AF65-F5344CB8AC3E}">
        <p14:creationId xmlns:p14="http://schemas.microsoft.com/office/powerpoint/2010/main" val="311171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產生策略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EF54B6-2FE7-4F8F-B8A8-F61FE5D5BA73}"/>
              </a:ext>
            </a:extLst>
          </p:cNvPr>
          <p:cNvSpPr/>
          <p:nvPr/>
        </p:nvSpPr>
        <p:spPr>
          <a:xfrm>
            <a:off x="349449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671925-DCB4-4C3C-94B5-BC79CFDB91C0}"/>
              </a:ext>
            </a:extLst>
          </p:cNvPr>
          <p:cNvSpPr/>
          <p:nvPr/>
        </p:nvSpPr>
        <p:spPr>
          <a:xfrm>
            <a:off x="751785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D041C7-1E29-493A-83D0-6240777A1354}"/>
              </a:ext>
            </a:extLst>
          </p:cNvPr>
          <p:cNvSpPr/>
          <p:nvPr/>
        </p:nvSpPr>
        <p:spPr>
          <a:xfrm>
            <a:off x="1154121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84CC00-28F0-4275-98E6-9A811FCA009B}"/>
              </a:ext>
            </a:extLst>
          </p:cNvPr>
          <p:cNvSpPr/>
          <p:nvPr/>
        </p:nvSpPr>
        <p:spPr>
          <a:xfrm>
            <a:off x="1556457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8D60C8-A938-443F-8AE6-3A0D29F618AF}"/>
              </a:ext>
            </a:extLst>
          </p:cNvPr>
          <p:cNvSpPr/>
          <p:nvPr/>
        </p:nvSpPr>
        <p:spPr>
          <a:xfrm>
            <a:off x="1958793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9B90B0-5A47-4FBC-B2D6-8E79CF74E652}"/>
              </a:ext>
            </a:extLst>
          </p:cNvPr>
          <p:cNvSpPr/>
          <p:nvPr/>
        </p:nvSpPr>
        <p:spPr>
          <a:xfrm>
            <a:off x="2358081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E5DBE9-A001-4566-857B-BDB0347038FF}"/>
              </a:ext>
            </a:extLst>
          </p:cNvPr>
          <p:cNvSpPr/>
          <p:nvPr/>
        </p:nvSpPr>
        <p:spPr>
          <a:xfrm>
            <a:off x="2760417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BF7DC9-D40B-4AFA-B2FA-8C4EB988A0EF}"/>
              </a:ext>
            </a:extLst>
          </p:cNvPr>
          <p:cNvSpPr/>
          <p:nvPr/>
        </p:nvSpPr>
        <p:spPr>
          <a:xfrm>
            <a:off x="3162753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91566C-CB4A-4B05-9EED-3857D4950EB4}"/>
              </a:ext>
            </a:extLst>
          </p:cNvPr>
          <p:cNvSpPr/>
          <p:nvPr/>
        </p:nvSpPr>
        <p:spPr>
          <a:xfrm>
            <a:off x="3565089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D49C46-CFFC-4673-AD44-B537C9B8C096}"/>
              </a:ext>
            </a:extLst>
          </p:cNvPr>
          <p:cNvSpPr/>
          <p:nvPr/>
        </p:nvSpPr>
        <p:spPr>
          <a:xfrm>
            <a:off x="3967425" y="1601136"/>
            <a:ext cx="402336" cy="457200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A8E51B0-C516-4863-AA5E-338608D0E6F6}"/>
              </a:ext>
            </a:extLst>
          </p:cNvPr>
          <p:cNvSpPr txBox="1"/>
          <p:nvPr/>
        </p:nvSpPr>
        <p:spPr>
          <a:xfrm>
            <a:off x="399774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C13D8F1-33F4-4E6D-98A7-CFC3139556A6}"/>
              </a:ext>
            </a:extLst>
          </p:cNvPr>
          <p:cNvSpPr txBox="1"/>
          <p:nvPr/>
        </p:nvSpPr>
        <p:spPr>
          <a:xfrm>
            <a:off x="1202922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126ADE7-BD06-4CA3-BD18-1FA6EAF34C19}"/>
              </a:ext>
            </a:extLst>
          </p:cNvPr>
          <p:cNvSpPr txBox="1"/>
          <p:nvPr/>
        </p:nvSpPr>
        <p:spPr>
          <a:xfrm>
            <a:off x="1606782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C0AE829A-16CC-4DA2-8FFE-CE5A5871DD76}"/>
              </a:ext>
            </a:extLst>
          </p:cNvPr>
          <p:cNvSpPr txBox="1"/>
          <p:nvPr/>
        </p:nvSpPr>
        <p:spPr>
          <a:xfrm>
            <a:off x="3219936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F0CFE47-278F-4AF8-AE26-60D4687042EC}"/>
              </a:ext>
            </a:extLst>
          </p:cNvPr>
          <p:cNvSpPr txBox="1"/>
          <p:nvPr/>
        </p:nvSpPr>
        <p:spPr>
          <a:xfrm>
            <a:off x="809730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11B2AA-A537-4AB4-9DAC-5EB7DD4FDEE1}"/>
              </a:ext>
            </a:extLst>
          </p:cNvPr>
          <p:cNvSpPr txBox="1"/>
          <p:nvPr/>
        </p:nvSpPr>
        <p:spPr>
          <a:xfrm>
            <a:off x="2009118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7A66E8C-D0E2-4952-A09D-2CEB7B6A818C}"/>
              </a:ext>
            </a:extLst>
          </p:cNvPr>
          <p:cNvSpPr txBox="1"/>
          <p:nvPr/>
        </p:nvSpPr>
        <p:spPr>
          <a:xfrm>
            <a:off x="2405391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388B595-DFA7-45A4-A04B-857BA0E225E3}"/>
              </a:ext>
            </a:extLst>
          </p:cNvPr>
          <p:cNvSpPr txBox="1"/>
          <p:nvPr/>
        </p:nvSpPr>
        <p:spPr>
          <a:xfrm>
            <a:off x="2804679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6C0B916-7304-44EF-A20B-D8A4BBDD35A7}"/>
              </a:ext>
            </a:extLst>
          </p:cNvPr>
          <p:cNvSpPr txBox="1"/>
          <p:nvPr/>
        </p:nvSpPr>
        <p:spPr>
          <a:xfrm>
            <a:off x="3621477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CDBB0DE-3894-4E65-859C-5A1769FC21D4}"/>
              </a:ext>
            </a:extLst>
          </p:cNvPr>
          <p:cNvSpPr txBox="1"/>
          <p:nvPr/>
        </p:nvSpPr>
        <p:spPr>
          <a:xfrm>
            <a:off x="4017750" y="16450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CAB6C68-1C81-476C-9A73-F53E09DCAA0E}"/>
              </a:ext>
            </a:extLst>
          </p:cNvPr>
          <p:cNvSpPr txBox="1"/>
          <p:nvPr/>
        </p:nvSpPr>
        <p:spPr>
          <a:xfrm>
            <a:off x="4772097" y="1519105"/>
            <a:ext cx="689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為基因演算法跑出的最佳解，代表同時有第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2(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EMA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黃金交叉則買入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和第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布林通道碰到下軌則買入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選股條件所構成的策略</a:t>
            </a:r>
          </a:p>
        </p:txBody>
      </p:sp>
      <p:graphicFrame>
        <p:nvGraphicFramePr>
          <p:cNvPr id="37" name="表格 3">
            <a:extLst>
              <a:ext uri="{FF2B5EF4-FFF2-40B4-BE49-F238E27FC236}">
                <a16:creationId xmlns:a16="http://schemas.microsoft.com/office/drawing/2014/main" id="{14E38FAB-CC69-4CC7-80BE-2B479C43F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32325"/>
              </p:ext>
            </p:extLst>
          </p:nvPr>
        </p:nvGraphicFramePr>
        <p:xfrm>
          <a:off x="2285409" y="3628488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endParaRPr lang="en-US" altLang="zh-TW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-78.81%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graphicFrame>
        <p:nvGraphicFramePr>
          <p:cNvPr id="39" name="表格 3">
            <a:extLst>
              <a:ext uri="{FF2B5EF4-FFF2-40B4-BE49-F238E27FC236}">
                <a16:creationId xmlns:a16="http://schemas.microsoft.com/office/drawing/2014/main" id="{52949973-CFB9-41DA-BA09-5C031B602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106860"/>
              </p:ext>
            </p:extLst>
          </p:nvPr>
        </p:nvGraphicFramePr>
        <p:xfrm>
          <a:off x="2285409" y="2858107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0.42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-55.75%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3" name="箭號: 向右 2">
            <a:extLst>
              <a:ext uri="{FF2B5EF4-FFF2-40B4-BE49-F238E27FC236}">
                <a16:creationId xmlns:a16="http://schemas.microsoft.com/office/drawing/2014/main" id="{C8B5D7E3-720C-43E4-94C6-A0D3CB97F166}"/>
              </a:ext>
            </a:extLst>
          </p:cNvPr>
          <p:cNvSpPr/>
          <p:nvPr/>
        </p:nvSpPr>
        <p:spPr>
          <a:xfrm>
            <a:off x="1594112" y="3038222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D6BC286-5666-4BE7-AA36-8B31DD3BD7A8}"/>
              </a:ext>
            </a:extLst>
          </p:cNvPr>
          <p:cNvSpPr txBox="1"/>
          <p:nvPr/>
        </p:nvSpPr>
        <p:spPr>
          <a:xfrm>
            <a:off x="75171" y="300146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0050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歷史績效</a:t>
            </a:r>
          </a:p>
        </p:txBody>
      </p:sp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C4394E2D-B453-4911-A049-1E3C2A95E9D2}"/>
              </a:ext>
            </a:extLst>
          </p:cNvPr>
          <p:cNvSpPr/>
          <p:nvPr/>
        </p:nvSpPr>
        <p:spPr>
          <a:xfrm>
            <a:off x="1599410" y="3749576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696733B3-11E9-416A-8802-64749073B07F}"/>
              </a:ext>
            </a:extLst>
          </p:cNvPr>
          <p:cNvSpPr txBox="1"/>
          <p:nvPr/>
        </p:nvSpPr>
        <p:spPr>
          <a:xfrm>
            <a:off x="80469" y="3712820"/>
            <a:ext cx="160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基因演算法最佳解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49D8CE77-559D-48D0-A329-A801351E3D40}"/>
              </a:ext>
            </a:extLst>
          </p:cNvPr>
          <p:cNvSpPr/>
          <p:nvPr/>
        </p:nvSpPr>
        <p:spPr>
          <a:xfrm>
            <a:off x="4458285" y="1609226"/>
            <a:ext cx="358074" cy="4491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CD121-6EC6-4240-9428-3BCF1ECBCE99}"/>
              </a:ext>
            </a:extLst>
          </p:cNvPr>
          <p:cNvSpPr/>
          <p:nvPr/>
        </p:nvSpPr>
        <p:spPr>
          <a:xfrm>
            <a:off x="305983" y="1436914"/>
            <a:ext cx="4108040" cy="738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71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產生策略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67658DC-4DF0-41E1-84D1-E9294E149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651673"/>
              </p:ext>
            </p:extLst>
          </p:nvPr>
        </p:nvGraphicFramePr>
        <p:xfrm>
          <a:off x="2799958" y="4747862"/>
          <a:ext cx="8432277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1.34</a:t>
                      </a:r>
                      <a:endParaRPr lang="en-US" altLang="zh-TW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-56.82%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21CA2514-82AE-4553-8E21-C8251770EBFC}"/>
              </a:ext>
            </a:extLst>
          </p:cNvPr>
          <p:cNvSpPr txBox="1"/>
          <p:nvPr/>
        </p:nvSpPr>
        <p:spPr>
          <a:xfrm>
            <a:off x="890942" y="3334166"/>
            <a:ext cx="10271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優化策略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股價上漲的本質為公司未來性佳，獲利持續成長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=&gt;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加入條件，條件為只買入去年同月營收增加最多的前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檔股票</a:t>
            </a:r>
          </a:p>
        </p:txBody>
      </p:sp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3570793D-8FD8-43BA-8FD4-53AF83EB8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943179"/>
              </p:ext>
            </p:extLst>
          </p:nvPr>
        </p:nvGraphicFramePr>
        <p:xfrm>
          <a:off x="2799958" y="1819391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endParaRPr lang="en-US" altLang="zh-TW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-78.81%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graphicFrame>
        <p:nvGraphicFramePr>
          <p:cNvPr id="16" name="表格 3">
            <a:extLst>
              <a:ext uri="{FF2B5EF4-FFF2-40B4-BE49-F238E27FC236}">
                <a16:creationId xmlns:a16="http://schemas.microsoft.com/office/drawing/2014/main" id="{0D5A125F-92ED-41C6-A907-D931A9C3E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13873"/>
              </p:ext>
            </p:extLst>
          </p:nvPr>
        </p:nvGraphicFramePr>
        <p:xfrm>
          <a:off x="2799958" y="1049010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0.42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-55.75%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A7502698-B009-404C-98E9-237B057DF74A}"/>
              </a:ext>
            </a:extLst>
          </p:cNvPr>
          <p:cNvSpPr/>
          <p:nvPr/>
        </p:nvSpPr>
        <p:spPr>
          <a:xfrm>
            <a:off x="2108661" y="1229125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725FC01-AB2B-47FC-BA1C-AAEFBC096FEC}"/>
              </a:ext>
            </a:extLst>
          </p:cNvPr>
          <p:cNvSpPr txBox="1"/>
          <p:nvPr/>
        </p:nvSpPr>
        <p:spPr>
          <a:xfrm>
            <a:off x="589720" y="119236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0050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歷史績效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50CEF842-3322-45A6-8580-854D7132E855}"/>
              </a:ext>
            </a:extLst>
          </p:cNvPr>
          <p:cNvSpPr/>
          <p:nvPr/>
        </p:nvSpPr>
        <p:spPr>
          <a:xfrm>
            <a:off x="2113959" y="1940479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CE692FD-4DF5-4172-8ABA-22EBB5DB7ABA}"/>
              </a:ext>
            </a:extLst>
          </p:cNvPr>
          <p:cNvSpPr txBox="1"/>
          <p:nvPr/>
        </p:nvSpPr>
        <p:spPr>
          <a:xfrm>
            <a:off x="146304" y="1903723"/>
            <a:ext cx="205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基因演算法最佳解</a:t>
            </a: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080B82E6-81EE-4034-9611-3D8A1B403E75}"/>
              </a:ext>
            </a:extLst>
          </p:cNvPr>
          <p:cNvSpPr/>
          <p:nvPr/>
        </p:nvSpPr>
        <p:spPr>
          <a:xfrm>
            <a:off x="2113959" y="4858892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7DC1191-4332-4A3D-8EB6-874B29C2767C}"/>
              </a:ext>
            </a:extLst>
          </p:cNvPr>
          <p:cNvSpPr txBox="1"/>
          <p:nvPr/>
        </p:nvSpPr>
        <p:spPr>
          <a:xfrm>
            <a:off x="125780" y="4859125"/>
            <a:ext cx="2058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加條件後的基因演算法最佳解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CE115C-4BB8-4CE5-B7B6-6B6A63754807}"/>
              </a:ext>
            </a:extLst>
          </p:cNvPr>
          <p:cNvSpPr txBox="1"/>
          <p:nvPr/>
        </p:nvSpPr>
        <p:spPr>
          <a:xfrm>
            <a:off x="890942" y="2621692"/>
            <a:ext cx="10341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缺點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基因演算法的最佳解會一次買入所有符合條件的股票，可能會買到許多不賺錢且較沒有未來性的公司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77B5D57-D150-40A9-8E25-7BD7B7BD603F}"/>
              </a:ext>
            </a:extLst>
          </p:cNvPr>
          <p:cNvSpPr txBox="1"/>
          <p:nvPr/>
        </p:nvSpPr>
        <p:spPr>
          <a:xfrm>
            <a:off x="3951618" y="5747306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策略已經打敗大盤了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!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但是否還能繼續優化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F432C606-8987-4050-874D-96EBB3FD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71" y="2716163"/>
            <a:ext cx="540000" cy="54000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9BBEB4C2-8268-4FC7-8E0C-BADA84AD1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7" y="3549080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分析策略</a:t>
            </a:r>
            <a:endParaRPr lang="zh-TW" altLang="en-US" sz="3200" b="1" dirty="0">
              <a:solidFill>
                <a:srgbClr val="18478F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691936" y="6150634"/>
            <a:ext cx="2960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Times New Roman" panose="02020603050405020304" pitchFamily="18" charset="0"/>
              </a:rPr>
              <a:t>9</a:t>
            </a:r>
            <a:endParaRPr lang="zh-TW" altLang="en-US" sz="22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A7916A6-AC99-4601-B6BD-7A91623986DC}"/>
              </a:ext>
            </a:extLst>
          </p:cNvPr>
          <p:cNvSpPr txBox="1"/>
          <p:nvPr/>
        </p:nvSpPr>
        <p:spPr>
          <a:xfrm>
            <a:off x="713232" y="1314752"/>
            <a:ext cx="60656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首先介紹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MAE/MFE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AE (adverse excursion) :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不利方向幅度，做多的話，就是下跌的波段。</a:t>
            </a:r>
            <a:endParaRPr lang="en-US" altLang="zh-TW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 :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最大不利方向幅度，做多的話，就是持有過程中的最大累積跌幅。</a:t>
            </a:r>
            <a:endParaRPr lang="en-US" altLang="zh-TW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FE (favorable excursion) :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有利方向幅度，做多的話，就是上漲的波段。</a:t>
            </a:r>
            <a:endParaRPr lang="en-US" altLang="zh-TW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BMFE : MAE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之前發生的最大有利方向幅度。若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BMFE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越高，越有可能在碰上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之前，先觸及停利出場。</a:t>
            </a:r>
            <a:endParaRPr lang="en-US" altLang="zh-TW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endParaRPr lang="zh-TW" altLang="en-US" b="0" i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GMFE (Global MFE) :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全域最大有利方向幅度。若發生在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之前，則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BMFE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等於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GMFE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。若在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之後，則代表要先承受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才可能吃到較高的獲利波段。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001D63-F411-4143-B73B-51D81BFE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982" y="1512225"/>
            <a:ext cx="450595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2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分析策略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02008" y="6150634"/>
            <a:ext cx="5859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EF9DAAC-1517-4410-A407-68327B6D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07" y="928687"/>
            <a:ext cx="6457950" cy="50006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FDDA575-5BD5-47FC-9B47-AE2B4199C3D2}"/>
              </a:ext>
            </a:extLst>
          </p:cNvPr>
          <p:cNvSpPr txBox="1"/>
          <p:nvPr/>
        </p:nvSpPr>
        <p:spPr>
          <a:xfrm>
            <a:off x="709517" y="2290007"/>
            <a:ext cx="5262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此圖為加條件後的基因演算法最佳解的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GMFE/MAE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91128F3-686C-48D1-9516-41D79B4F47F6}"/>
              </a:ext>
            </a:extLst>
          </p:cNvPr>
          <p:cNvSpPr/>
          <p:nvPr/>
        </p:nvSpPr>
        <p:spPr>
          <a:xfrm>
            <a:off x="5626359" y="857067"/>
            <a:ext cx="2827176" cy="3080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8C50202-94A3-47F6-ACDB-44156663DC9D}"/>
              </a:ext>
            </a:extLst>
          </p:cNvPr>
          <p:cNvSpPr txBox="1"/>
          <p:nvPr/>
        </p:nvSpPr>
        <p:spPr>
          <a:xfrm>
            <a:off x="1433124" y="3517179"/>
            <a:ext cx="3673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我想買入的股票為高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GMFE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低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MAE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9CBF772-E21C-4789-B59D-AB2863CB6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89" y="342899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3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使用機器學習優化策略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5" y="6609873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76654" y="6150634"/>
            <a:ext cx="5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6B4C51B-E6FE-4615-86E4-20CE801C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067" y="1006676"/>
            <a:ext cx="6457950" cy="521017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9E4B881-801D-4EDA-B06E-523D9371015C}"/>
              </a:ext>
            </a:extLst>
          </p:cNvPr>
          <p:cNvSpPr txBox="1"/>
          <p:nvPr/>
        </p:nvSpPr>
        <p:spPr>
          <a:xfrm>
            <a:off x="305983" y="2024367"/>
            <a:ext cx="4591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非監督式學習</a:t>
            </a:r>
            <a:r>
              <a:rPr lang="en-US" altLang="zh-TW" sz="2400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Kmeans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來分群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，讓模型自動幫我們藉由高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GMFE 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低 </a:t>
            </a:r>
            <a:r>
              <a:rPr lang="en-US" altLang="zh-TW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 </a:t>
            </a:r>
            <a:r>
              <a:rPr lang="zh-TW" altLang="en-US" sz="24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兩項特徵分出三個群集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460BABE-5016-4B5D-8CD6-E604CCF646A1}"/>
              </a:ext>
            </a:extLst>
          </p:cNvPr>
          <p:cNvSpPr txBox="1"/>
          <p:nvPr/>
        </p:nvSpPr>
        <p:spPr>
          <a:xfrm>
            <a:off x="3118233" y="36184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分群後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75D3B18E-FE22-4F0A-B3B9-D7DD07DF985B}"/>
              </a:ext>
            </a:extLst>
          </p:cNvPr>
          <p:cNvSpPr/>
          <p:nvPr/>
        </p:nvSpPr>
        <p:spPr>
          <a:xfrm>
            <a:off x="4201485" y="3502028"/>
            <a:ext cx="877163" cy="737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82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使用機器學習優化策略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11340" y="6150634"/>
            <a:ext cx="576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ACC4716-F247-4F80-9073-21B470EC0D7B}"/>
              </a:ext>
            </a:extLst>
          </p:cNvPr>
          <p:cNvSpPr txBox="1"/>
          <p:nvPr/>
        </p:nvSpPr>
        <p:spPr>
          <a:xfrm>
            <a:off x="1081889" y="2012933"/>
            <a:ext cx="2268570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製作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負債比率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存貨週轉率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ROE</a:t>
            </a: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稅後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 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業外收支營收率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營業毛利率</a:t>
            </a:r>
            <a:endParaRPr lang="en-US" altLang="zh-TW" sz="2000" b="0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營業利益率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 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營收成長率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 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現金流量比率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融資使用率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 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融券使用率</a:t>
            </a:r>
            <a:r>
              <a:rPr lang="en-US" altLang="zh-TW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  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進場時的波動率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57B821-61E8-4834-9C00-465DF0D4B804}"/>
              </a:ext>
            </a:extLst>
          </p:cNvPr>
          <p:cNvSpPr txBox="1"/>
          <p:nvPr/>
        </p:nvSpPr>
        <p:spPr>
          <a:xfrm>
            <a:off x="4237583" y="3117291"/>
            <a:ext cx="61162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將這些資料做成 </a:t>
            </a:r>
            <a:r>
              <a:rPr lang="en-US" altLang="zh-TW" sz="2000" b="0" i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dataframe</a:t>
            </a:r>
            <a:r>
              <a:rPr lang="en-US" altLang="zh-TW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準備進入模型訓練，並將資料以 </a:t>
            </a:r>
            <a:r>
              <a:rPr lang="en-US" altLang="zh-TW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2019 </a:t>
            </a:r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年為分界點，切成訓練及測試資料集。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7FB3EC6-0CC7-43A3-B84B-2C05ADAEA73C}"/>
              </a:ext>
            </a:extLst>
          </p:cNvPr>
          <p:cNvSpPr txBox="1"/>
          <p:nvPr/>
        </p:nvSpPr>
        <p:spPr>
          <a:xfrm>
            <a:off x="953419" y="1319206"/>
            <a:ext cx="904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進行下一步，尋找有沒有選股條件能辨識</a:t>
            </a:r>
            <a:r>
              <a:rPr lang="en-US" altLang="zh-TW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label </a:t>
            </a:r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，使用</a:t>
            </a:r>
            <a:r>
              <a:rPr lang="zh-TW" altLang="en-US" sz="2000" b="1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監督式學習決策樹</a:t>
            </a:r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0FAE4A3E-9E09-4F08-9840-D1AA4FC23E00}"/>
              </a:ext>
            </a:extLst>
          </p:cNvPr>
          <p:cNvSpPr/>
          <p:nvPr/>
        </p:nvSpPr>
        <p:spPr>
          <a:xfrm>
            <a:off x="3323184" y="3143314"/>
            <a:ext cx="783771" cy="5329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53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使用機器學習優化策略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504645" y="6150634"/>
            <a:ext cx="6111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04A95E-7AA8-4DF7-95DB-8B25C672D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824" y="1195654"/>
            <a:ext cx="5366229" cy="515208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EA478C8C-FBB3-47E8-86F4-00354F12D80E}"/>
              </a:ext>
            </a:extLst>
          </p:cNvPr>
          <p:cNvSpPr txBox="1"/>
          <p:nvPr/>
        </p:nvSpPr>
        <p:spPr>
          <a:xfrm>
            <a:off x="76200" y="3776085"/>
            <a:ext cx="50089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f1_score: 0.7485029940119761 </a:t>
            </a:r>
          </a:p>
          <a:p>
            <a:r>
              <a:rPr lang="en-US" altLang="zh-TW" b="0" i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precision_score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(p): 0.7183908045977011 </a:t>
            </a:r>
            <a:r>
              <a:rPr lang="en-US" altLang="zh-TW" b="0" i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recall_score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(p): 0.78125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2781285-1921-46A5-964A-8B795CC8FD41}"/>
              </a:ext>
            </a:extLst>
          </p:cNvPr>
          <p:cNvSpPr txBox="1"/>
          <p:nvPr/>
        </p:nvSpPr>
        <p:spPr>
          <a:xfrm>
            <a:off x="76200" y="1648543"/>
            <a:ext cx="5008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將資料集套入 </a:t>
            </a:r>
            <a:r>
              <a:rPr lang="en-US" altLang="zh-TW" b="0" i="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sklearn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決策樹，驗證目標為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label=2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的集群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低 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GMFE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高 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 )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，若找到機率越高，能有效躲避波動。</a:t>
            </a:r>
            <a:b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測試結果放入 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confusion-matrix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驗證結果，抓出「低 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GMFE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高 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MAE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」的準確度達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72%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，預測</a:t>
            </a:r>
            <a:r>
              <a:rPr lang="en-US" altLang="zh-TW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169(120+49) 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次內有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120</a:t>
            </a:r>
            <a:r>
              <a:rPr lang="zh-TW" altLang="en-US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次正確。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432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使用機器學習優化策略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504646" y="6150634"/>
            <a:ext cx="4833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Times New Roman" panose="02020603050405020304" pitchFamily="18" charset="0"/>
              </a:rPr>
              <a:t>14</a:t>
            </a:r>
            <a:endParaRPr lang="zh-TW" altLang="en-US" sz="2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00C2E19-8105-4231-A207-15F82D3D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739" y="1064079"/>
            <a:ext cx="6968909" cy="52155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303C0A6-51A7-4CC9-9E16-FF341E56AA7E}"/>
              </a:ext>
            </a:extLst>
          </p:cNvPr>
          <p:cNvSpPr txBox="1"/>
          <p:nvPr/>
        </p:nvSpPr>
        <p:spPr>
          <a:xfrm>
            <a:off x="268536" y="2581262"/>
            <a:ext cx="38892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TW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繪製出決策樹的機器學習選股決策流程，最上頭的X[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0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]為’</a:t>
            </a:r>
            <a:r>
              <a:rPr lang="zh-TW" altLang="en-US" sz="2000" b="0" i="0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負債比率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’，使用</a:t>
            </a:r>
            <a:r>
              <a:rPr kumimoji="0" lang="en-US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70.195</a:t>
            </a:r>
            <a:r>
              <a:rPr kumimoji="0" lang="zh-TW" altLang="zh-TW" sz="2000" b="0" i="0" u="none" strike="noStrike" cap="none" normalizeH="0" baseline="0" dirty="0">
                <a:ln>
                  <a:noFill/>
                </a:ln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Noto Sans" panose="020B0502040504020204" pitchFamily="34" charset="0"/>
              </a:rPr>
              <a:t>當數值分界點，X序列等同features_name排序。</a:t>
            </a:r>
            <a:endParaRPr kumimoji="0" lang="en-US" altLang="zh-TW" sz="2000" b="0" i="0" u="none" strike="noStrike" cap="none" normalizeH="0" baseline="0" dirty="0">
              <a:ln>
                <a:noFill/>
              </a:ln>
              <a:effectLst/>
              <a:latin typeface="標楷體" panose="03000509000000000000" pitchFamily="65" charset="-120"/>
              <a:ea typeface="標楷體" panose="03000509000000000000" pitchFamily="65" charset="-120"/>
              <a:cs typeface="Noto Sans" panose="020B0502040504020204" pitchFamily="34" charset="0"/>
            </a:endParaRP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4515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使用機器學習優化策略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3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30000" y="6150634"/>
            <a:ext cx="557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6B8E0C2C-D073-4637-B476-DE4452489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07466"/>
              </p:ext>
            </p:extLst>
          </p:nvPr>
        </p:nvGraphicFramePr>
        <p:xfrm>
          <a:off x="2861328" y="2717900"/>
          <a:ext cx="8432277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04283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21.6%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1.87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-13.61%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4A42F885-E230-4E6C-B4E9-D977FEA52C1C}"/>
              </a:ext>
            </a:extLst>
          </p:cNvPr>
          <p:cNvSpPr txBox="1"/>
          <p:nvPr/>
        </p:nvSpPr>
        <p:spPr>
          <a:xfrm>
            <a:off x="784371" y="1805443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經測試後，最佳條件為加入 </a:t>
            </a:r>
            <a:r>
              <a:rPr lang="zh-TW" altLang="en-US" sz="20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進場時的波動率</a:t>
            </a:r>
            <a:r>
              <a:rPr lang="en-US" altLang="zh-TW" sz="20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&lt;=0.029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C020E-0333-4B1D-88E8-EFC424DB8D3C}"/>
              </a:ext>
            </a:extLst>
          </p:cNvPr>
          <p:cNvSpPr txBox="1"/>
          <p:nvPr/>
        </p:nvSpPr>
        <p:spPr>
          <a:xfrm>
            <a:off x="802737" y="28397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最終策略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2EAC8822-D75A-49BC-9155-CA5E1A14F9C3}"/>
              </a:ext>
            </a:extLst>
          </p:cNvPr>
          <p:cNvSpPr/>
          <p:nvPr/>
        </p:nvSpPr>
        <p:spPr>
          <a:xfrm>
            <a:off x="2152235" y="2888330"/>
            <a:ext cx="62934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50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研究結果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4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02008" y="6150634"/>
            <a:ext cx="5859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16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6B8E0C2C-D073-4637-B476-DE4452489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193480"/>
              </p:ext>
            </p:extLst>
          </p:nvPr>
        </p:nvGraphicFramePr>
        <p:xfrm>
          <a:off x="3136967" y="4172595"/>
          <a:ext cx="8432277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04283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21.6%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1.87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-13.61%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C37C020E-0333-4B1D-88E8-EFC424DB8D3C}"/>
              </a:ext>
            </a:extLst>
          </p:cNvPr>
          <p:cNvSpPr txBox="1"/>
          <p:nvPr/>
        </p:nvSpPr>
        <p:spPr>
          <a:xfrm>
            <a:off x="961874" y="42965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最終策略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2EAC8822-D75A-49BC-9155-CA5E1A14F9C3}"/>
              </a:ext>
            </a:extLst>
          </p:cNvPr>
          <p:cNvSpPr/>
          <p:nvPr/>
        </p:nvSpPr>
        <p:spPr>
          <a:xfrm>
            <a:off x="2427874" y="4343025"/>
            <a:ext cx="629342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3" name="表格 3">
            <a:extLst>
              <a:ext uri="{FF2B5EF4-FFF2-40B4-BE49-F238E27FC236}">
                <a16:creationId xmlns:a16="http://schemas.microsoft.com/office/drawing/2014/main" id="{7B7CBAA5-D3F9-4259-8FB0-3BB60D30B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26218"/>
              </p:ext>
            </p:extLst>
          </p:nvPr>
        </p:nvGraphicFramePr>
        <p:xfrm>
          <a:off x="3136967" y="2966975"/>
          <a:ext cx="8432277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1.34</a:t>
                      </a:r>
                      <a:endParaRPr lang="en-US" altLang="zh-TW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-56.82%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graphicFrame>
        <p:nvGraphicFramePr>
          <p:cNvPr id="17" name="表格 3">
            <a:extLst>
              <a:ext uri="{FF2B5EF4-FFF2-40B4-BE49-F238E27FC236}">
                <a16:creationId xmlns:a16="http://schemas.microsoft.com/office/drawing/2014/main" id="{F20788BB-C199-440F-8EB2-3777819C1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19468"/>
              </p:ext>
            </p:extLst>
          </p:nvPr>
        </p:nvGraphicFramePr>
        <p:xfrm>
          <a:off x="3136968" y="2087848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endParaRPr lang="en-US" altLang="zh-TW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-78.81%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graphicFrame>
        <p:nvGraphicFramePr>
          <p:cNvPr id="20" name="表格 3">
            <a:extLst>
              <a:ext uri="{FF2B5EF4-FFF2-40B4-BE49-F238E27FC236}">
                <a16:creationId xmlns:a16="http://schemas.microsoft.com/office/drawing/2014/main" id="{5C4E6767-7623-4995-AAAE-CDB1B299B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192134"/>
              </p:ext>
            </p:extLst>
          </p:nvPr>
        </p:nvGraphicFramePr>
        <p:xfrm>
          <a:off x="3136967" y="1208721"/>
          <a:ext cx="8432277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0759">
                  <a:extLst>
                    <a:ext uri="{9D8B030D-6E8A-4147-A177-3AD203B41FA5}">
                      <a16:colId xmlns:a16="http://schemas.microsoft.com/office/drawing/2014/main" val="372900054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309289129"/>
                    </a:ext>
                  </a:extLst>
                </a:gridCol>
                <a:gridCol w="2810759">
                  <a:extLst>
                    <a:ext uri="{9D8B030D-6E8A-4147-A177-3AD203B41FA5}">
                      <a16:colId xmlns:a16="http://schemas.microsoft.com/office/drawing/2014/main" val="823489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年化報酬率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夏普值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487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8.52%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effectLst/>
                        </a:rPr>
                        <a:t>0.42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-55.75%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0339"/>
                  </a:ext>
                </a:extLst>
              </a:tr>
            </a:tbl>
          </a:graphicData>
        </a:graphic>
      </p:graphicFrame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877CA10E-869A-4F80-8001-44AB770ADF16}"/>
              </a:ext>
            </a:extLst>
          </p:cNvPr>
          <p:cNvSpPr/>
          <p:nvPr/>
        </p:nvSpPr>
        <p:spPr>
          <a:xfrm>
            <a:off x="2454509" y="1435319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2696C42-1BE2-4034-9A58-F0D9A891AF02}"/>
              </a:ext>
            </a:extLst>
          </p:cNvPr>
          <p:cNvSpPr txBox="1"/>
          <p:nvPr/>
        </p:nvSpPr>
        <p:spPr>
          <a:xfrm>
            <a:off x="622417" y="143531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0050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回測數據</a:t>
            </a: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A29054EB-529B-4FEB-BA25-77A3A5B7B57E}"/>
              </a:ext>
            </a:extLst>
          </p:cNvPr>
          <p:cNvSpPr/>
          <p:nvPr/>
        </p:nvSpPr>
        <p:spPr>
          <a:xfrm>
            <a:off x="2454509" y="2287885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2F1D0FD-B45C-4AF0-973B-C7EC5C82373B}"/>
              </a:ext>
            </a:extLst>
          </p:cNvPr>
          <p:cNvSpPr txBox="1"/>
          <p:nvPr/>
        </p:nvSpPr>
        <p:spPr>
          <a:xfrm>
            <a:off x="486854" y="2251129"/>
            <a:ext cx="205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基因演算法最佳解</a:t>
            </a:r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B10B428F-373E-4137-89E9-9EC6B6C0EA80}"/>
              </a:ext>
            </a:extLst>
          </p:cNvPr>
          <p:cNvSpPr/>
          <p:nvPr/>
        </p:nvSpPr>
        <p:spPr>
          <a:xfrm>
            <a:off x="2454509" y="3130295"/>
            <a:ext cx="576072" cy="379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728DFD3-F6CD-4DA4-B8E6-9A029EE83AF6}"/>
              </a:ext>
            </a:extLst>
          </p:cNvPr>
          <p:cNvSpPr txBox="1"/>
          <p:nvPr/>
        </p:nvSpPr>
        <p:spPr>
          <a:xfrm>
            <a:off x="396472" y="3058691"/>
            <a:ext cx="2058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加條件後的基因演算法最佳解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C69090-A206-4EEE-82C7-6206B5A39468}"/>
              </a:ext>
            </a:extLst>
          </p:cNvPr>
          <p:cNvSpPr/>
          <p:nvPr/>
        </p:nvSpPr>
        <p:spPr>
          <a:xfrm>
            <a:off x="746449" y="3862873"/>
            <a:ext cx="11028784" cy="1376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27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892D8D7-2E4D-46BC-B872-97F59EE76310}"/>
              </a:ext>
            </a:extLst>
          </p:cNvPr>
          <p:cNvSpPr/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4EFD1-E728-4AD5-95EC-212341877614}"/>
              </a:ext>
            </a:extLst>
          </p:cNvPr>
          <p:cNvSpPr/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5FED59-FB61-4B97-AF79-75734F4B7F85}"/>
              </a:ext>
            </a:extLst>
          </p:cNvPr>
          <p:cNvSpPr/>
          <p:nvPr/>
        </p:nvSpPr>
        <p:spPr>
          <a:xfrm>
            <a:off x="1916394" y="421901"/>
            <a:ext cx="101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研究結果</a:t>
            </a:r>
          </a:p>
        </p:txBody>
      </p:sp>
      <p:sp>
        <p:nvSpPr>
          <p:cNvPr id="19" name="圆角矩形 14">
            <a:extLst>
              <a:ext uri="{FF2B5EF4-FFF2-40B4-BE49-F238E27FC236}">
                <a16:creationId xmlns:a16="http://schemas.microsoft.com/office/drawing/2014/main" id="{021EA3A9-AC49-4EE1-AA18-317C7C4190DD}"/>
              </a:ext>
            </a:extLst>
          </p:cNvPr>
          <p:cNvSpPr/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708D57-2448-4BD3-80A1-D0E3B60175CC}"/>
              </a:ext>
            </a:extLst>
          </p:cNvPr>
          <p:cNvSpPr/>
          <p:nvPr/>
        </p:nvSpPr>
        <p:spPr>
          <a:xfrm>
            <a:off x="486854" y="39926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0</a:t>
            </a:r>
            <a:r>
              <a:rPr lang="en-US" altLang="zh-TW" sz="3200" b="1" dirty="0">
                <a:solidFill>
                  <a:srgbClr val="18478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Open Sans" panose="020B0606030504020204" pitchFamily="34" charset="0"/>
              </a:rPr>
              <a:t>4</a:t>
            </a:r>
            <a:endParaRPr lang="zh-CN" altLang="en-US" sz="3200" b="1" dirty="0">
              <a:solidFill>
                <a:srgbClr val="18478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8C7547-42A2-481D-954C-C36D3968A3C6}"/>
              </a:ext>
            </a:extLst>
          </p:cNvPr>
          <p:cNvSpPr/>
          <p:nvPr/>
        </p:nvSpPr>
        <p:spPr>
          <a:xfrm>
            <a:off x="-32716" y="6638924"/>
            <a:ext cx="12224715" cy="227347"/>
          </a:xfrm>
          <a:prstGeom prst="rect">
            <a:avLst/>
          </a:prstGeom>
          <a:solidFill>
            <a:srgbClr val="DDA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1">
                  <a:lumMod val="50000"/>
                </a:schemeClr>
              </a:solidFill>
              <a:highlight>
                <a:srgbClr val="18478F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6D8290-549F-4A36-BD46-4C362C2ABE30}"/>
              </a:ext>
            </a:extLst>
          </p:cNvPr>
          <p:cNvSpPr txBox="1"/>
          <p:nvPr/>
        </p:nvSpPr>
        <p:spPr>
          <a:xfrm>
            <a:off x="11457992" y="6150634"/>
            <a:ext cx="5299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rgbClr val="030303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17</a:t>
            </a:r>
            <a:endParaRPr lang="zh-TW" altLang="en-US" sz="2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9C7867-8C18-4DE9-9AE3-92A883C1D36E}"/>
              </a:ext>
            </a:extLst>
          </p:cNvPr>
          <p:cNvSpPr txBox="1"/>
          <p:nvPr/>
        </p:nvSpPr>
        <p:spPr>
          <a:xfrm>
            <a:off x="2554478" y="2101407"/>
            <a:ext cx="70503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b="0" i="0" dirty="0">
                <a:solidFill>
                  <a:srgbClr val="42424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使用基因演算法加上機器學習的雙流分工，就能輕鬆做出穩定打敗大盤的策略，但以上都是回測資料，過去不代表未來，此策略只是一個概念，策略還是有很多地方可以優化</a:t>
            </a:r>
            <a:r>
              <a:rPr lang="en-US" altLang="zh-TW" sz="2800" b="0" i="0" dirty="0">
                <a:solidFill>
                  <a:srgbClr val="424242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!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958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 rot="2700000">
            <a:off x="1881971" y="2790130"/>
            <a:ext cx="1489274" cy="1489277"/>
          </a:xfrm>
          <a:prstGeom prst="rect">
            <a:avLst/>
          </a:prstGeom>
          <a:solidFill>
            <a:srgbClr val="D18D2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highlight>
                <a:srgbClr val="FFFF00"/>
              </a:highlight>
            </a:endParaRPr>
          </a:p>
        </p:txBody>
      </p:sp>
      <p:sp>
        <p:nvSpPr>
          <p:cNvPr id="20" name="矩形 19"/>
          <p:cNvSpPr/>
          <p:nvPr/>
        </p:nvSpPr>
        <p:spPr>
          <a:xfrm rot="2700000">
            <a:off x="932899" y="2963219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 rot="13500000">
            <a:off x="8830661" y="2790130"/>
            <a:ext cx="1489274" cy="1489277"/>
          </a:xfrm>
          <a:prstGeom prst="rect">
            <a:avLst/>
          </a:prstGeom>
          <a:solidFill>
            <a:srgbClr val="D18D2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highlight>
                <a:srgbClr val="FFFF00"/>
              </a:highlight>
            </a:endParaRPr>
          </a:p>
        </p:txBody>
      </p:sp>
      <p:sp>
        <p:nvSpPr>
          <p:cNvPr id="22" name="矩形 21"/>
          <p:cNvSpPr/>
          <p:nvPr/>
        </p:nvSpPr>
        <p:spPr>
          <a:xfrm rot="13500000">
            <a:off x="10125914" y="2963222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 rot="2700000">
            <a:off x="4300148" y="1739713"/>
            <a:ext cx="3590111" cy="359011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 scaled="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65900" y="1105464"/>
            <a:ext cx="4858608" cy="4858608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62514" y="3113529"/>
            <a:ext cx="4465377" cy="6309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000" b="1" dirty="0">
                <a:solidFill>
                  <a:prstClr val="black">
                    <a:lumMod val="50000"/>
                    <a:lumOff val="50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zh-TW" altLang="en-US" sz="3500" b="1" dirty="0">
                <a:solidFill>
                  <a:prstClr val="black">
                    <a:lumMod val="50000"/>
                    <a:lumOff val="50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謝謝大家</a:t>
            </a:r>
            <a:r>
              <a:rPr lang="en-US" altLang="zh-TW" sz="3500" b="1" dirty="0">
                <a:solidFill>
                  <a:prstClr val="black">
                    <a:lumMod val="50000"/>
                    <a:lumOff val="50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  <a:endParaRPr lang="en-US" altLang="zh-CN" sz="3500" b="1" dirty="0">
              <a:solidFill>
                <a:prstClr val="black">
                  <a:lumMod val="50000"/>
                  <a:lumOff val="50000"/>
                </a:prst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218413" y="1840884"/>
            <a:ext cx="3799166" cy="3405278"/>
            <a:chOff x="4218413" y="1840884"/>
            <a:chExt cx="3799166" cy="3405278"/>
          </a:xfrm>
        </p:grpSpPr>
        <p:sp>
          <p:nvSpPr>
            <p:cNvPr id="36" name="椭圆 35"/>
            <p:cNvSpPr/>
            <p:nvPr/>
          </p:nvSpPr>
          <p:spPr>
            <a:xfrm>
              <a:off x="4218413" y="1840884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7831128" y="5059711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221683" y="1840884"/>
            <a:ext cx="3786146" cy="3435128"/>
            <a:chOff x="4221683" y="1840884"/>
            <a:chExt cx="3786146" cy="3435128"/>
          </a:xfrm>
        </p:grpSpPr>
        <p:sp>
          <p:nvSpPr>
            <p:cNvPr id="49" name="椭圆 48"/>
            <p:cNvSpPr/>
            <p:nvPr/>
          </p:nvSpPr>
          <p:spPr>
            <a:xfrm>
              <a:off x="4221683" y="5089561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7821378" y="1840884"/>
              <a:ext cx="186451" cy="186451"/>
            </a:xfrm>
            <a:prstGeom prst="ellipse">
              <a:avLst/>
            </a:prstGeom>
            <a:solidFill>
              <a:srgbClr val="1847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13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21600000">
                                      <p:cBhvr>
                                        <p:cTn id="2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mph" presetSubtype="0" repeatCount="indefinite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Rot by="-21600000">
                                      <p:cBhvr>
                                        <p:cTn id="2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1711 7.40741E-7 L 2.08333E-6 7.40741E-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5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5" presetClass="path" presetSubtype="0" accel="50000" decel="5000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1711 7.40741E-7 L 2.08333E-6 7.40741E-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51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16537 7.40741E-7 L 3.33333E-6 7.40741E-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16537 7.40741E-7 L 3.33333E-6 7.40741E-7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4" grpId="0" animBg="1"/>
      <p:bldP spid="2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13284</TotalTime>
  <Words>1533</Words>
  <Application>Microsoft Office PowerPoint</Application>
  <PresentationFormat>寬螢幕</PresentationFormat>
  <Paragraphs>259</Paragraphs>
  <Slides>20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標楷體</vt:lpstr>
      <vt:lpstr>Arial</vt:lpstr>
      <vt:lpstr>Calibri</vt:lpstr>
      <vt:lpstr>Calibri Light</vt:lpstr>
      <vt:lpstr>Noto Sans</vt:lpstr>
      <vt:lpstr>Open Sans</vt:lpstr>
      <vt:lpstr>Times New Roman</vt:lpstr>
      <vt:lpstr>Office 主题</vt:lpstr>
      <vt:lpstr>1_Office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禎 陳</cp:lastModifiedBy>
  <cp:revision>251</cp:revision>
  <dcterms:created xsi:type="dcterms:W3CDTF">2016-06-30T07:01:47Z</dcterms:created>
  <dcterms:modified xsi:type="dcterms:W3CDTF">2023-12-21T03:34:20Z</dcterms:modified>
</cp:coreProperties>
</file>